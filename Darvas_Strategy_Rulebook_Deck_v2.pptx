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47548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★ SYSTEMATIC TRADING &amp; BACKTESTING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The Darvas Bearish + Bullish Combo</a:t>
            </a:r>
          </a:p>
          <a:p>
            <a:pPr>
              <a:spcBef>
                <a:spcPts val="1000"/>
              </a:spcBef>
              <a:defRPr sz="1700">
                <a:solidFill>
                  <a:srgbClr val="94A3B8"/>
                </a:solidFill>
              </a:defRPr>
            </a:pPr>
            <a:r>
              <a:t>Operational Rulebook &amp; Behind-the-Scenes Backtesting Mechanics</a:t>
            </a:r>
            <a:br/>
            <a:r>
              <a:t>4-Tranche Capital Architecture (Rs. 40,000 Portfolio) | Live Case Study: INFY (Infosys Ltd)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📡 20-WEEK RADAR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Rolling 20-Week Low &amp; High trigger automated state detection without emotion.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💼 4 TRANCHE SLOTS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Rs. 40,000 capital split into 4 parts (1 Bullish Trend + 3 Bearish Dip Harvesters).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LIVE INFY PROOF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100% win rate on 33 closed trades, +Rs. 40,724 cash profit (+101.8% gain) from 2020-2026!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Core Architecture: Two Complementary Engines in One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⚠️ THE TRADITIONAL INVESTING DILEMMA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Markets Chop 70% of the Time 📉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Stocks rarely go straight up. Most of the year is spent in frustrating pullbacks, corrections, and sideways channels.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Traditional Buy-and-Hold Gets Trapped ⏳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Investors sit on idle capital or suffer severe drawdowns waiting years for a stock to recover from cyclical dips.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Pure Momentum Strategies Get Whiplashed 🌪️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Buying only at new highs often results in buying at market tops and getting panicked into selling at bottoms.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🛡️ OUR DUAL-ENGINE SOLUTION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1: Bearish Dip-Harvester (Slots 2 to 4) 🎯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enters a correction, our radar activates. Each time the stock makes a weekly swing bounce, we buy a tranche and exit quickly at a strict +5% target. It turns market drops into cash generators!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2: Bullish Trend-Rider (Slot 1) 🚀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breaks above its 20-week high, we allocate 1 dedicated slot to ride the massive macro uptrend. We do NOT cap it at 5%; we let it compound until the entire multi-year bull run finishes!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Dynamic Compounding &amp; Recycling 🔄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Every profit won and dividend paid is automatically reinvested back into future tranches, accelerating wealth exponentially without adding fresh capital.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Capital Architecture: How Rs. 40,000 is Divided into 4 Tranches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nch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45060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🧮 DISCRETE SHARE SIZING (NO MARGIN)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Shares Bought = Floor(Tranche Capital / Buy Price)</a:t>
            </a:r>
            <a:br>
              <a:rPr dirty="0"/>
            </a:br>
            <a:r>
              <a:rPr dirty="0"/>
              <a:t>• Example: Tranche Capital = Rs. 10,000 and Stock is Rs. 746:</a:t>
            </a:r>
            <a:br>
              <a:rPr dirty="0"/>
            </a:br>
            <a:r>
              <a:rPr dirty="0"/>
              <a:t>  Shares = Floor(10,000 / 746) = 13 Shares (Invested: Rs. 9,698)</a:t>
            </a:r>
            <a:br>
              <a:rPr dirty="0"/>
            </a:br>
            <a:r>
              <a:rPr dirty="0"/>
              <a:t>• Unused fractional cash stays 100% safe in bank buffer earning interest!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📈 DYNAMIC CAPITAL COMPOUNDING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Current Capital = Initial (Rs. 40k) + Realized Profits + Dividends</a:t>
            </a:r>
            <a:br/>
            <a:r>
              <a:t>Tranche Capital = Current Capital / 4 Parts</a:t>
            </a:r>
            <a:br/>
            <a:r>
              <a:t>• As profits roll in, Slot size automatically grows to Rs. 12k, 15k, 18k+!</a:t>
            </a:r>
            <a:br/>
            <a:r>
              <a:t>• Each slot operates with bigger firepower without depositing any fresh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1: When Does Tracking Start? (The 20-Week Radar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🔭 The 20-Week Window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Calculates two rolling benchmarks every Friday:</a:t>
            </a:r>
            <a:br/>
            <a:r>
              <a:t>• 20-Week High (20WH): Resistance Ceiling</a:t>
            </a:r>
            <a:br/>
            <a:r>
              <a:t>• 20-Week Low (20WL): Support Floor</a:t>
            </a:r>
            <a:br/>
            <a:r>
              <a:t>Covers 5 months (~institutional cycle).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🚨 Bearish Radar Activation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When Friday Close &lt; 20-Week Low:</a:t>
            </a:r>
            <a:br>
              <a:rPr dirty="0"/>
            </a:br>
            <a:r>
              <a:rPr dirty="0"/>
              <a:t>• Stock is confirmed in a deep correction.</a:t>
            </a:r>
            <a:br>
              <a:rPr dirty="0"/>
            </a:br>
            <a:r>
              <a:rPr dirty="0"/>
              <a:t>• Bearish Radar turns ON.</a:t>
            </a:r>
            <a:br>
              <a:rPr dirty="0"/>
            </a:br>
            <a:r>
              <a:rPr dirty="0"/>
              <a:t>• Begins hunting weekly dip-buying bounces.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🚀 Bullish Breakout Shift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When Friday Close &gt; 20-Week High:</a:t>
            </a:r>
            <a:br/>
            <a:r>
              <a:t>• Bearish Radar immediately turns OFF.</a:t>
            </a:r>
            <a:br/>
            <a:r>
              <a:t>• Deep dip phase is over; bull trend starts.</a:t>
            </a:r>
            <a:br/>
            <a:r>
              <a:t>• Slot 1 Bullish Tranche deployed to ride it!</a:t>
            </a:r>
          </a:p>
        </p:txBody>
      </p:sp>
      <p:pic>
        <p:nvPicPr>
          <p:cNvPr id="7" name="Picture 6" descr="radar_workflow.png"/>
          <p:cNvPicPr>
            <a:picLocks noChangeAspect="1"/>
          </p:cNvPicPr>
          <p:nvPr/>
        </p:nvPicPr>
        <p:blipFill>
          <a:blip r:embed="rId2"/>
          <a:srcRect b="14054"/>
          <a:stretch>
            <a:fillRect/>
          </a:stretch>
        </p:blipFill>
        <p:spPr>
          <a:xfrm>
            <a:off x="731520" y="3383280"/>
            <a:ext cx="10728655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2: When is Buying Done? (Two-Step Execution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🛒 TWO-STEP ORDER EXECUTION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1: Signal Detection (Friday 3:30 PM)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The backtest engine checks Friday Weekly Close:</a:t>
            </a:r>
            <a:br/>
            <a:r>
              <a:t>Does Weekly Close &gt; Previous Week High?</a:t>
            </a:r>
            <a:br/>
            <a:r>
              <a:t>If YES and free slots exist, a Pending Buy Setup is queued.</a:t>
            </a:r>
            <a:br/>
            <a:r>
              <a:t>Entry Ceiling Price = Friday Close * 1.005 (+0.5% buffer)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2: Order Fill (Monday to Friday Daily Market)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During the next trading week, the engine checks every daily bar:</a:t>
            </a:r>
            <a:br/>
            <a:r>
              <a:t>Is Daily Low &lt;= Entry Ceiling Price?</a:t>
            </a:r>
            <a:br/>
            <a:r>
              <a:t>If YES: Buy Tranche is FILLED!</a:t>
            </a:r>
            <a:br/>
            <a:r>
              <a:t>Fill Price = min(Daily Open, Entry Ceiling Price)</a:t>
            </a:r>
            <a:br/>
            <a:r>
              <a:t>Target Price = Buy Price * 1.05 (+5.0% profit)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The Expiration Rule ⏳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the stock gaps up violently and stays above the ceiling all week, the order expires with zero penalty. Cycle repeats cleanly next week.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🛡️ FOUR CRITICAL RISK GUARDRAILS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1️⃣ Maximum 1 Tranche Per Week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No matter how strong a single week looks, we never deploy more than 1 slot in the same week. This enforces temporal diversification across weeks.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2️⃣ Strict 4-Slot Capacity Ceiling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all 4 slots are occupied, the engine automatically ignores all new buy signals. We never borrow on margin or over-allocate.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3️⃣ Anti-Clustering Spacing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Prevents buying two tranches at the exact same price. New tranches are spaced out across distinct price levels.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4️⃣ Limit Price Ceiling (No Slippage)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Using a +0.5% limit ceiling ensures we never chase sudden emotional price spikes or enter at unfavorable prices.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3: When Are Tranches Sold? (The Two Distinct Exit Paths)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🎯 PATH A: BEARISH DIP TRANCHES (SLOTS 2 - 4)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STRICT +5.0% PROFIT TARGET EXIT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Rule: Sold the instant Daily High &gt;= Buy Price * 1.05</a:t>
            </a:r>
            <a:br/>
            <a:r>
              <a:t>• Execution: Sells automatically at the exact Target Price.</a:t>
            </a:r>
            <a:br/>
            <a:r>
              <a:t>• Holding Time: Averages 20 to 45 calendar days.</a:t>
            </a:r>
            <a:br/>
            <a:r>
              <a:t>• Immediate Slot Recycling 🔄: The moment the 5% profit is booked, the capital plus profit returns to available cash, and that specific Slot becomes 100% free to catch the next signal!</a:t>
            </a:r>
            <a:br/>
            <a:r>
              <a:t>• No Stop Loss: We do not panic-sell dips. In quality large-cap stocks like Infosys, pullbacks are temporary. Each tranche holds until its +5% profit is realized.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🚀 PATH B: BULLISH MOMENTUM TRANCHE (SLOT 1)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MACRO TREND COMPOUNDER (NO 5% CAP!)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Philosophy: In a multi-year bull run, exiting at 5% leaves massive wealth on the table. Slot 1 is designed to ride the entire wave!</a:t>
            </a:r>
            <a:br/>
            <a:r>
              <a:t>• Exit Condition 1: Weekly Close drops below the Rolling 20-Week Low (A full trend reversal confirmed).</a:t>
            </a:r>
            <a:br/>
            <a:r>
              <a:t>• Exit Condition 2: AND the achieved return must be &gt;= 15% per annum for the time held:</a:t>
            </a:r>
            <a:br/>
            <a:r>
              <a:t>  Required Profit % = 15% * (Days Held / 365.25)</a:t>
            </a:r>
            <a:br/>
            <a:r>
              <a:t>• In INFY: Slot 1 bought at Rs. 903 in July 2020 and held until April 2022 to exit at Rs. 1,585, booking a massive +75.5% gain (+Rs. 8,187 profit)!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Complete Step-by-Step Lifecycle of a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1️⃣ WEEKLY RADAR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Friday 3:30 PM</a:t>
            </a:r>
            <a:br/>
            <a:r>
              <a:t>• Checks Close &gt; 20W Low</a:t>
            </a:r>
            <a:br/>
            <a:r>
              <a:t>• Checks Close &gt; Prev High</a:t>
            </a:r>
            <a:br/>
            <a:r>
              <a:t>• Verifies free slots exist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2️⃣ PENDING ORDER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Weekend Setup</a:t>
            </a:r>
            <a:br/>
            <a:r>
              <a:t>• Locks reference price</a:t>
            </a:r>
            <a:br/>
            <a:r>
              <a:t>• Sets entry ceiling (+0.5%)</a:t>
            </a:r>
            <a:br/>
            <a:r>
              <a:t>• Sized to 1/4th capital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3️⃣ DAILY FILL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Next Week Mon-Fri</a:t>
            </a:r>
            <a:br/>
            <a:r>
              <a:t>• Low &lt;= Entry Ceiling</a:t>
            </a:r>
            <a:br/>
            <a:r>
              <a:t>• Fills at min(Open, Ceiling)</a:t>
            </a:r>
            <a:br/>
            <a:r>
              <a:t>• Target set at +5%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4️⃣ TARGET HIT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Profit Realized! 🎯</a:t>
            </a:r>
            <a:br/>
            <a:r>
              <a:t>• High &gt;= Target Price</a:t>
            </a:r>
            <a:br/>
            <a:r>
              <a:t>• +5% gain locked in cash</a:t>
            </a:r>
            <a:br/>
            <a:r>
              <a:t>• Slot instantly recycled 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🔄 THE RECYCLING FLYWHEEL: WHY CONTINUOUS ROTATION BEATS STATIC BUY &amp; HOLD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In traditional investing, you buy once and wait for years. In our 4-tranche system:</a:t>
            </a:r>
            <a:br/>
            <a:r>
              <a:t>• Slot 2 buys INFY at Rs. 652, sells at Rs. 685 (Profit: Rs. 489 in 34 days) -&gt; Slot 2 is recycled.</a:t>
            </a:r>
            <a:br/>
            <a:r>
              <a:t>• Slot 2 buys INFY at Rs. 715, sells at Rs. 751 (Profit: Rs. 500 in 57 days) -&gt; Slot 2 is recycled again.</a:t>
            </a:r>
            <a:br/>
            <a:r>
              <a:t>• Slot 2 buys INFY at Rs. 748, sells at Rs. 785 (Profit: Rs. 523 in 11 days) -&gt; Slot 2 is recycled again.</a:t>
            </a:r>
            <a:br/>
            <a:r>
              <a:t>The same Rs. 10,000 capital was deployed 3 times in 4 months, harvesting profits repeatedly!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Case Study: INFY (Infosys Ltd) Performance Scorecard (2020-2026)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💰 TOTAL CAPITAL</a:t>
            </a:r>
          </a:p>
          <a:p>
            <a:pPr>
              <a:spcBef>
                <a:spcPts val="200"/>
              </a:spcBef>
              <a:defRPr sz="2400" b="1">
                <a:solidFill>
                  <a:srgbClr val="1E3A8A"/>
                </a:solidFill>
              </a:defRPr>
            </a:pPr>
            <a:r>
              <a:t>Rs. 40,000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Initial base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18888" y="1389888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rPr dirty="0"/>
              <a:t>🏆 TOTAL REALIZED PROFIT</a:t>
            </a:r>
          </a:p>
          <a:p>
            <a:pPr>
              <a:spcBef>
                <a:spcPts val="200"/>
              </a:spcBef>
              <a:defRPr sz="2400" b="1">
                <a:solidFill>
                  <a:srgbClr val="10B981"/>
                </a:solidFill>
              </a:defRPr>
            </a:pPr>
            <a:r>
              <a:rPr dirty="0"/>
              <a:t>Rs. 40,724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dirty="0"/>
              <a:t>+101.8% cash profit booked!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🛡️ MAX DRAWDOWN</a:t>
            </a:r>
          </a:p>
          <a:p>
            <a:pPr>
              <a:spcBef>
                <a:spcPts val="200"/>
              </a:spcBef>
              <a:defRPr sz="2400" b="1">
                <a:solidFill>
                  <a:srgbClr val="D97706"/>
                </a:solidFill>
              </a:defRPr>
            </a:pPr>
            <a:r>
              <a:t>-20.6%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Navigated Covid &amp; Tech crash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4389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OPERATIONAL METRICS FOR INFY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Trades Taken: 35 Trades (1 Bullish Trend + 34 Bearish Dips)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Completed Trades: 33 Trades (All 33 hit targets cleanly)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Active Open Positions: 2 Trades (Compounding currently)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Deployed Capital XIRR %: 24.7% Annualized Return on deployed cash!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Portfolio Return %: 92.3% Net Return across entire capital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Max Active Slots Used: 4 / 4 Slots (Full utilization during dips)</a:t>
            </a:r>
          </a:p>
        </p:txBody>
      </p:sp>
      <p:pic>
        <p:nvPicPr>
          <p:cNvPr id="10" name="Picture 9" descr="infy_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3063240"/>
            <a:ext cx="6156655" cy="30783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nfy_price_chart.png">
            <a:extLst>
              <a:ext uri="{FF2B5EF4-FFF2-40B4-BE49-F238E27FC236}">
                <a16:creationId xmlns:a16="http://schemas.microsoft.com/office/drawing/2014/main" id="{BA5822F4-C97A-6752-F0AD-EB8417790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74" y="1046700"/>
            <a:ext cx="10525298" cy="501975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1520" y="365760"/>
            <a:ext cx="1069848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rPr dirty="0"/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INFY Chart &amp; Trade Execution: Anatomy of Real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6257" y="92347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01345" y="6025530"/>
            <a:ext cx="10728655" cy="7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884225" y="6025530"/>
            <a:ext cx="1033272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KEY INSIGHTS FROM REAL INFY TRADES (2020-2026)</a:t>
            </a:r>
          </a:p>
          <a:p>
            <a:pPr>
              <a:spcBef>
                <a:spcPts val="400"/>
              </a:spcBef>
              <a:defRPr sz="980">
                <a:solidFill>
                  <a:srgbClr val="0F172A"/>
                </a:solidFill>
              </a:defRPr>
            </a:pPr>
            <a:r>
              <a:rPr dirty="0"/>
              <a:t>1. 🚀 Master Bullish Ride (Trade #10): Entered 17-Jul-2020 at Rs. 903.15, rode the post-Covid bull market, and exited on 22-Apr-2022 at Rs. 1,585.45 (+75.5% profit / +Rs. 8,187.60 in 644 days)!</a:t>
            </a:r>
            <a:br>
              <a:rPr dirty="0"/>
            </a:br>
            <a:r>
              <a:rPr dirty="0"/>
              <a:t>2. ⚡ High-Velocity Dip Rotations: Trade #5 exited in 6 days (+Rs. 493.50), Trade #9 in 5 days (+Rs. 508.17), Trade #25 in 6 days (+Rs. 705.06), Trade #32 in 6 days (+Rs. 845.52)!</a:t>
            </a:r>
            <a:br>
              <a:rPr dirty="0"/>
            </a:br>
            <a:r>
              <a:rPr dirty="0"/>
              <a:t>3. 📈 Compounding at Work: Trade #1 in 2020 made Rs. 484.90, while Trade #34 in 2026 made Rs. 904.16 (+86% larger profit!) because each tranche dynamically grew from Rs. 9.7k to Rs. 18.0k!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Why This Strategy Excels for Investors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🤖 100% Objective &amp; Emotionless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Zero forecasting, zero news watching, zero tips.</a:t>
            </a:r>
            <a:br/>
            <a:r>
              <a:t>• Everything is 100% mathematical based on weekly closing prices and strict limits.</a:t>
            </a:r>
            <a:br/>
            <a:r>
              <a:t>• Removes fear during crashes and eliminates greed during rallies.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🛡️ Asymmetric Risk Protection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Strict 4-tranche cap prevents dangerous portfolio concentration.</a:t>
            </a:r>
            <a:br/>
            <a:r>
              <a:t>• Max drawdown on INFY was contained at -20.6% across 6 years.</a:t>
            </a:r>
            <a:br/>
            <a:r>
              <a:t>• Idle capital sits safely earning risk-free interest buffer.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Built for Quality Equities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rPr dirty="0"/>
              <a:t>• Large-cap Nifty 50 stocks (like Infosys) have immense cyclical bounce reliability.</a:t>
            </a:r>
            <a:br>
              <a:rPr dirty="0"/>
            </a:br>
            <a:r>
              <a:rPr dirty="0"/>
              <a:t>• Dual engine monetizes frequent 5% swings while letting long-term trends run.</a:t>
            </a:r>
            <a:br>
              <a:rPr dirty="0"/>
            </a:br>
            <a:r>
              <a:rPr dirty="0"/>
              <a:t>• Achieves 24.7% XIRR with extraordinary peace of mind.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THE BOTTOM LINE FOR STAKEHOLDERS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This systematic strategy solves the single biggest flaw in equity investing: emotional decision-making. By combining high-velocity 5% swing harvesting during corrections with a patient multi-year trend-riding tranche, it delivers compounding wealth (+101.8% cash profit on INFY) with strict risk management.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1969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krishan fulera</cp:lastModifiedBy>
  <cp:revision>4</cp:revision>
  <dcterms:created xsi:type="dcterms:W3CDTF">2013-01-27T09:14:16Z</dcterms:created>
  <dcterms:modified xsi:type="dcterms:W3CDTF">2026-10-17T05:04:22Z</dcterms:modified>
  <cp:category/>
</cp:coreProperties>
</file>