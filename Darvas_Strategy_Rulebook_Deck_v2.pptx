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IN" sz="6000" dirty="0"/>
              <a:t>Multi Engine </a:t>
            </a:r>
            <a:r>
              <a:rPr sz="6000" dirty="0"/>
              <a:t>Darvas </a:t>
            </a:r>
            <a:r>
              <a:rPr lang="en-IN" sz="6000" dirty="0"/>
              <a:t>Strategy</a:t>
            </a:r>
            <a:endParaRPr sz="6000" dirty="0"/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📡 20-WEEK RADAR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Rolling 20-Week Low &amp; High trigger automated state detection without emotion.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💼 4 TRANCHE SLOTS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Rs. 40,000 capital split into 4 parts (1 Bullish Trend + 3 Bearish Dip Harvesters).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/>
              <a:t>INFY</a:t>
            </a:r>
            <a:r>
              <a:rPr dirty="0"/>
              <a:t> </a:t>
            </a:r>
            <a:r>
              <a:rPr lang="en-IN" dirty="0"/>
              <a:t>BACKTEST</a:t>
            </a:r>
            <a:r>
              <a:rPr dirty="0"/>
              <a:t> </a:t>
            </a:r>
            <a:r>
              <a:rPr lang="en-IN" dirty="0"/>
              <a:t>CASE STUDY</a:t>
            </a:r>
            <a:endParaRPr dirty="0"/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+Rs. 40,724 cash profit (+101.8% gain) from 2020-2026!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The Core Architecture: Two Complementary Engines in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rPr dirty="0"/>
              <a:t>⚠️ THE TRADITIONAL INVESTING DILEMMA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lang="en-IN" dirty="0"/>
              <a:t>How to trade when market is Bearish</a:t>
            </a:r>
            <a:r>
              <a:rPr dirty="0"/>
              <a:t>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Stocks rarely go straight up. Most of the year is spent in frustrating pullbacks, corrections, and sideways channels.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lang="en-IN" dirty="0"/>
              <a:t>How to trade when market is Bullish</a:t>
            </a:r>
            <a:r>
              <a:rPr dirty="0"/>
              <a:t> ⏳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Investors sit on idle capital or suffer severe drawdowns waiting years for a stock to recover from cyclical dips.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dirty="0"/>
              <a:t>Pure Momentum Strategies Get Whiplashed 🌪️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Buying only at new highs often results in buying at market tops and getting panicked into selling at bottoms.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🛡️ OUR DUAL-ENGINE SOLUTION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1: Bearish Dip-Harvester (Slots 2 to 4) 🎯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enters a correction, our radar activates. Each time the stock makes a weekly swing bounce, we buy a tranche and exit quickly at a strict +5% target. It turns market drops into cash generators!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2: Bullish Trend-Rider (Slot 1) 🚀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breaks above its 20-week high, we allocate 1 dedicated slot to ride the massive macro uptrend. We do NOT cap it at 5%; we let it compound until the entire multi-year bull run finishes!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Dynamic Compounding &amp; Recycling 🔄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Every profit won and dividend paid is automatically reinvested back into future tranches, accelerating wealth exponentially without adding fresh capital.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Capital Architecture: How Rs. 40,000 is Divided into 4 Tranches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nch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45060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🧮 DISCRETE SHARE SIZING (NO MARGIN)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Shares Bought = Floor(Tranche Capital / Buy Price)</a:t>
            </a:r>
            <a:br>
              <a:rPr dirty="0"/>
            </a:br>
            <a:r>
              <a:rPr dirty="0"/>
              <a:t>• Example: Tranche Capital = Rs. 10,000 and Stock is Rs. 746:</a:t>
            </a:r>
            <a:br>
              <a:rPr dirty="0"/>
            </a:br>
            <a:r>
              <a:rPr dirty="0"/>
              <a:t>  Shares = Floor(10,000 / 746) = 13 Shares (Invested: Rs. 9,698)</a:t>
            </a:r>
            <a:br>
              <a:rPr dirty="0"/>
            </a:br>
            <a:r>
              <a:rPr dirty="0"/>
              <a:t>• Unused fractional cash stays 100% safe in bank buffer earning interest!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📈 DYNAMIC CAPITAL COMPOUNDING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Current Capital = Initial (Rs. 40k) + Realized Profits + Dividends</a:t>
            </a:r>
            <a:br/>
            <a:r>
              <a:t>Tranche Capital = Current Capital / 4 Parts</a:t>
            </a:r>
            <a:br/>
            <a:r>
              <a:t>• As profits roll in, Slot size automatically grows to Rs. 12k, 15k, 18k+!</a:t>
            </a:r>
            <a:br/>
            <a:r>
              <a:t>• Each slot operates with bigger firepower without depositing any fresh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1: When Does Tracking Start? (The 20-Week Radar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🔭 The 20-Week Window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Calculates two rolling benchmarks every Friday:</a:t>
            </a:r>
            <a:br/>
            <a:r>
              <a:t>• 20-Week High (20WH): Resistance Ceiling</a:t>
            </a:r>
            <a:br/>
            <a:r>
              <a:t>• 20-Week Low (20WL): Support Floor</a:t>
            </a:r>
            <a:br/>
            <a:r>
              <a:t>Covers 5 months (~institutional cycle).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🚨 Bearish Radar Activation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When Friday Close &lt; 20-Week Low:</a:t>
            </a:r>
            <a:br>
              <a:rPr dirty="0"/>
            </a:br>
            <a:r>
              <a:rPr dirty="0"/>
              <a:t>• Stock is confirmed in a deep correction.</a:t>
            </a:r>
            <a:br>
              <a:rPr dirty="0"/>
            </a:br>
            <a:r>
              <a:rPr dirty="0"/>
              <a:t>• Bearish Radar turns ON.</a:t>
            </a:r>
            <a:br>
              <a:rPr dirty="0"/>
            </a:br>
            <a:r>
              <a:rPr dirty="0"/>
              <a:t>• Begins hunting weekly dip-buying bounces.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🚀 Bullish Breakout Shift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When Friday Close &gt; 20-Week High:</a:t>
            </a:r>
            <a:br/>
            <a:r>
              <a:t>• Bearish Radar immediately turns OFF.</a:t>
            </a:r>
            <a:br/>
            <a:r>
              <a:t>• Deep dip phase is over; bull trend starts.</a:t>
            </a:r>
            <a:br/>
            <a:r>
              <a:t>• Slot 1 Bullish Tranche deployed to ride it!</a:t>
            </a:r>
          </a:p>
        </p:txBody>
      </p:sp>
      <p:pic>
        <p:nvPicPr>
          <p:cNvPr id="7" name="Picture 6" descr="radar_workflow.png"/>
          <p:cNvPicPr>
            <a:picLocks noChangeAspect="1"/>
          </p:cNvPicPr>
          <p:nvPr/>
        </p:nvPicPr>
        <p:blipFill>
          <a:blip r:embed="rId2"/>
          <a:srcRect b="14054"/>
          <a:stretch>
            <a:fillRect/>
          </a:stretch>
        </p:blipFill>
        <p:spPr>
          <a:xfrm>
            <a:off x="731520" y="3383280"/>
            <a:ext cx="10728655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2: When is Buying Done? (Two-Step Execution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🛒 TWO-STEP ORDER EXECUTION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1: Signal Detection (Friday 3:30 PM)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The backtest engine checks Friday Weekly Close:</a:t>
            </a:r>
            <a:br/>
            <a:r>
              <a:t>Does Weekly Close &gt; Previous Week High?</a:t>
            </a:r>
            <a:br/>
            <a:r>
              <a:t>If YES and free slots exist, a Pending Buy Setup is queued.</a:t>
            </a:r>
            <a:br/>
            <a:r>
              <a:t>Entry Ceiling Price = Friday Close * 1.005 (+0.5% buffer)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2: Order Fill (Monday to Friday Daily Market)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During the next trading week, the engine checks every daily bar:</a:t>
            </a:r>
            <a:br/>
            <a:r>
              <a:t>Is Daily Low &lt;= Entry Ceiling Price?</a:t>
            </a:r>
            <a:br/>
            <a:r>
              <a:t>If YES: Buy Tranche is FILLED!</a:t>
            </a:r>
            <a:br/>
            <a:r>
              <a:t>Fill Price = min(Daily Open, Entry Ceiling Price)</a:t>
            </a:r>
            <a:br/>
            <a:r>
              <a:t>Target Price = Buy Price * 1.05 (+5.0% profit)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The Expiration Rule ⏳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the stock gaps up violently and stays above the ceiling all week, the order expires with zero penalty. Cycle repeats cleanly next week.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🛡️ FOUR CRITICAL RISK GUARDRAILS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1️⃣ Maximum 1 Tranche Per Week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No matter how strong a single week looks, we never deploy more than 1 slot in the same week. This enforces temporal diversification across weeks.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2️⃣ Strict 4-Slot Capacity Ceiling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all 4 slots are occupied, the engine automatically ignores all new buy signals. We never borrow on margin or over-allocate.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3️⃣ Anti-Clustering Spacing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Prevents buying two tranches at the exact same price. New tranches are spaced out across distinct price levels.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4️⃣ Limit Price Ceiling (No Slippage)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Using a +0.5% limit ceiling ensures we never chase sudden emotional price spikes or enter at unfavorable prices.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3: When Are Tranches Sold? (The Two Distinct Exit Paths)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🎯 PATH A: BEARISH DIP TRANCHES (SLOTS 2 - 4)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STRICT +5.0% PROFIT TARGET EXIT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Rule: Sold the instant Daily High &gt;= Buy Price * 1.05</a:t>
            </a:r>
            <a:br/>
            <a:r>
              <a:t>• Execution: Sells automatically at the exact Target Price.</a:t>
            </a:r>
            <a:br/>
            <a:r>
              <a:t>• Holding Time: Averages 20 to 45 calendar days.</a:t>
            </a:r>
            <a:br/>
            <a:r>
              <a:t>• Immediate Slot Recycling 🔄: The moment the 5% profit is booked, the capital plus profit returns to available cash, and that specific Slot becomes 100% free to catch the next signal!</a:t>
            </a:r>
            <a:br/>
            <a:r>
              <a:t>• No Stop Loss: We do not panic-sell dips. In quality large-cap stocks like Infosys, pullbacks are temporary. Each tranche holds until its +5% profit is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PATH B: BULLISH MOMENTUM TRANCHE (SLOT 1)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MACRO TREND COMPOUNDER (NO 5% CAP!)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Philosophy: In a multi-year bull run, exiting at 5% leaves massive wealth on the table. Slot 1 is designed to ride the entire wave!</a:t>
            </a:r>
            <a:br/>
            <a:r>
              <a:t>• Exit Condition 1: Weekly Close drops below the Rolling 20-Week Low (A full trend reversal confirmed).</a:t>
            </a:r>
            <a:br/>
            <a:r>
              <a:t>• Exit Condition 2: AND the achieved return must be &gt;= 15% per annum for the time held:</a:t>
            </a:r>
            <a:br/>
            <a:r>
              <a:t>  Required Profit % = 15% * (Days Held / 365.25)</a:t>
            </a:r>
            <a:br/>
            <a:r>
              <a:t>• In INFY: Slot 1 bought at Rs. 903 in July 2020 and held until April 2022 to exit at Rs. 1,585, booking a massive +75.5% gain (+Rs. 8,187 profit)!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Complete Step-by-Step Lifecycle of a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1️⃣ WEEKLY RADAR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Friday 3:30 PM</a:t>
            </a:r>
            <a:br/>
            <a:r>
              <a:t>• Checks Close &gt; 20W Low</a:t>
            </a:r>
            <a:br/>
            <a:r>
              <a:t>• Checks Close &gt; Prev High</a:t>
            </a:r>
            <a:br/>
            <a:r>
              <a:t>• Verifies free slots exist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2️⃣ PENDING ORDER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Weekend Setup</a:t>
            </a:r>
            <a:br/>
            <a:r>
              <a:t>• Locks reference price</a:t>
            </a:r>
            <a:br/>
            <a:r>
              <a:t>• Sets entry ceiling (+0.5%)</a:t>
            </a:r>
            <a:br/>
            <a:r>
              <a:t>• Sized to 1/4th capital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3️⃣ DAILY FILL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Next Week Mon-Fri</a:t>
            </a:r>
            <a:br/>
            <a:r>
              <a:t>• Low &lt;= Entry Ceiling</a:t>
            </a:r>
            <a:br/>
            <a:r>
              <a:t>• Fills at min(Open, Ceiling)</a:t>
            </a:r>
            <a:br/>
            <a:r>
              <a:t>• Target set at +5%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4️⃣ TARGET HIT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Profit Realized! 🎯</a:t>
            </a:r>
            <a:br/>
            <a:r>
              <a:t>• High &gt;= Target Price</a:t>
            </a:r>
            <a:br/>
            <a:r>
              <a:t>• +5% gain locked in cash</a:t>
            </a:r>
            <a:br/>
            <a:r>
              <a:t>• Slot instantly recycled 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🔄 THE RECYCLING FLYWHEEL: WHY CONTINUOUS ROTATION BEATS STATIC BUY &amp; HOLD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In traditional investing, you buy once and wait for years. In our 4-tranche system:</a:t>
            </a:r>
            <a:br/>
            <a:r>
              <a:t>• Slot 2 buys INFY at Rs. 652, sells at Rs. 685 (Profit: Rs. 489 in 34 days) -&gt; Slot 2 is recycled.</a:t>
            </a:r>
            <a:br/>
            <a:r>
              <a:t>• Slot 2 buys INFY at Rs. 715, sells at Rs. 751 (Profit: Rs. 500 in 57 days) -&gt; Slot 2 is recycled again.</a:t>
            </a:r>
            <a:br/>
            <a:r>
              <a:t>• Slot 2 buys INFY at Rs. 748, sells at Rs. 785 (Profit: Rs. 523 in 11 days) -&gt; Slot 2 is recycled again.</a:t>
            </a:r>
            <a:br/>
            <a:r>
              <a:t>The same Rs. 10,000 capital was deployed 3 times in 4 months, harvesting profits repeatedly!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Case Study: INFY (Infosys Ltd) Performance Scorecard (2020-2026)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💰 TOTAL CAPITAL</a:t>
            </a:r>
          </a:p>
          <a:p>
            <a:pPr>
              <a:spcBef>
                <a:spcPts val="200"/>
              </a:spcBef>
              <a:defRPr sz="2400" b="1">
                <a:solidFill>
                  <a:srgbClr val="1E3A8A"/>
                </a:solidFill>
              </a:defRPr>
            </a:pPr>
            <a:r>
              <a:t>Rs. 40,000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Initial base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1389888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rPr dirty="0"/>
              <a:t>🏆 TOTAL REALIZED PROFIT</a:t>
            </a:r>
          </a:p>
          <a:p>
            <a:pPr>
              <a:spcBef>
                <a:spcPts val="200"/>
              </a:spcBef>
              <a:defRPr sz="2400" b="1">
                <a:solidFill>
                  <a:srgbClr val="10B981"/>
                </a:solidFill>
              </a:defRPr>
            </a:pPr>
            <a:r>
              <a:rPr dirty="0"/>
              <a:t>Rs. 40,724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+101.8% cash profit booked!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🛡️ MAX DRAWDOWN</a:t>
            </a:r>
          </a:p>
          <a:p>
            <a:pPr>
              <a:spcBef>
                <a:spcPts val="200"/>
              </a:spcBef>
              <a:defRPr sz="2400" b="1">
                <a:solidFill>
                  <a:srgbClr val="D97706"/>
                </a:solidFill>
              </a:defRPr>
            </a:pPr>
            <a:r>
              <a:t>-20.6%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Navigated Covid &amp; Tech crash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METRICS FOR INFY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Trades Taken: 35 Trades (1 Bullish Trend + 34 Bearish Dips)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Completed Trades: 33 Trades (All 33 hit targets cleanly)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Active Open Positions: 2 Trades (Compounding currently)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Deployed Capital XIRR %: 24.7% Annualized Return on deployed cash!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Portfolio Return %: 92.3% Net Return across entire capital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Max Active Slots Used: 4 / 4 Slots (Full utilization during dips)</a:t>
            </a:r>
          </a:p>
        </p:txBody>
      </p:sp>
      <p:pic>
        <p:nvPicPr>
          <p:cNvPr id="10" name="Picture 9" descr="infy_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063240"/>
            <a:ext cx="6156655" cy="30783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nfy_price_chart.png">
            <a:extLst>
              <a:ext uri="{FF2B5EF4-FFF2-40B4-BE49-F238E27FC236}">
                <a16:creationId xmlns:a16="http://schemas.microsoft.com/office/drawing/2014/main" id="{BA5822F4-C97A-6752-F0AD-EB84177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74" y="1046700"/>
            <a:ext cx="10525298" cy="501975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365760"/>
            <a:ext cx="1069848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rPr dirty="0"/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INFY Chart &amp; Trade Execution: Anatomy of Real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6257" y="92347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1345" y="6025530"/>
            <a:ext cx="10728655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884225" y="6025530"/>
            <a:ext cx="1033272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KEY INSIGHTS FROM REAL INFY TRADES (2020-2026)</a:t>
            </a:r>
          </a:p>
          <a:p>
            <a:pPr>
              <a:spcBef>
                <a:spcPts val="400"/>
              </a:spcBef>
              <a:defRPr sz="980">
                <a:solidFill>
                  <a:srgbClr val="0F172A"/>
                </a:solidFill>
              </a:defRPr>
            </a:pPr>
            <a:r>
              <a:rPr dirty="0"/>
              <a:t>1. 🚀 Master Bullish Ride (Trade #10): Entered 17-Jul-2020 at Rs. 903.15, rode the post-Covid bull market, and exited on 22-Apr-2022 at Rs. 1,585.45 (+75.5% profit / +Rs. 8,187.60 in 644 days)!</a:t>
            </a:r>
            <a:br>
              <a:rPr dirty="0"/>
            </a:br>
            <a:r>
              <a:rPr dirty="0"/>
              <a:t>2. ⚡ High-Velocity Dip Rotations: Trade #5 exited in 6 days (+Rs. 493.50), Trade #9 in 5 days (+Rs. 508.17), Trade #25 in 6 days (+Rs. 705.06), Trade #32 in 6 days (+Rs. 845.52)!</a:t>
            </a:r>
            <a:br>
              <a:rPr dirty="0"/>
            </a:br>
            <a:r>
              <a:rPr dirty="0"/>
              <a:t>3. 📈 Compounding at Work: Trade #1 in 2020 made Rs. 484.90, while Trade #34 in 2026 made Rs. 904.16 (+86% larger profit!) because each tranche dynamically grew from Rs. 9.7k to Rs. 18.0k!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Why This Strategy Excels for Investors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🤖 100% Objective &amp; Emotionless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Zero forecasting, zero news watching, zero tips.</a:t>
            </a:r>
            <a:br/>
            <a:r>
              <a:t>• Everything is 100% mathematical based on weekly closing prices and strict limits.</a:t>
            </a:r>
            <a:br/>
            <a:r>
              <a:t>• Removes fear during crashes and eliminates greed during rallies.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🛡️ Asymmetric Risk Protection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Strict 4-tranche cap prevents dangerous portfolio concentration.</a:t>
            </a:r>
            <a:br/>
            <a:r>
              <a:t>• Max drawdown on INFY was contained at -20.6% across 6 years.</a:t>
            </a:r>
            <a:br/>
            <a:r>
              <a:t>• Idle capital sits safely earning risk-free interest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Built for Quality Equities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rPr dirty="0"/>
              <a:t>• Large-cap Nifty 50 stocks (like Infosys) have immense cyclical bounce reliability.</a:t>
            </a:r>
            <a:br>
              <a:rPr dirty="0"/>
            </a:br>
            <a:r>
              <a:rPr dirty="0"/>
              <a:t>• Dual engine monetizes frequent 5% swings while letting long-term trends run.</a:t>
            </a:r>
            <a:br>
              <a:rPr dirty="0"/>
            </a:br>
            <a:r>
              <a:rPr dirty="0"/>
              <a:t>• Achieves 24.7% XIRR with extraordinary peace of mind.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THE BOTTOM LINE FOR STAKEHOLDERS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This systematic strategy solves the single biggest flaw in equity investing: emotional decision-making. By combining high-velocity 5% swing harvesting during corrections with a patient multi-year trend-riding tranche, it delivers compounding wealth (+101.8% cash profit on INFY) with strict risk management.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STRATEGY VARIANT BACKTEST (2020 – 2026)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Nifty 50: CAR Filter vs No CAR Full Performance Ledger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 CAR Filter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WITHOUT CAR (Baseline)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Impact / Advantage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21.40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+Rs. 42.67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21.28L (2x Gain)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+42.79%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+85.35%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+42.56% Outperformance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Realized Profit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20.72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45.53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Banked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Trade Realized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15.17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33.20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18.03L from 5%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Idle Interest (5% p.a.)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4.24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9.52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5.28L on Buffer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Dividend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1.30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2.80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1.50L Dividends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Unrealized Open P&amp;L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67,842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-Rs. 2,85,244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3.53L Cushion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Trades (Closed / Total)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169 / 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1,109 / 1,218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-82.6% Trades Filtered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Bearish Dip Tranches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128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1,107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-979 Bounces Skipped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Deployed XIRR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28.72%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28.05%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Equal Velocity (~28%)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Portfolio XIRR 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5.39%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9.51%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+4.12% p.a. on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Max Drawdown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Only 0.35%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923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Ending Overall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70.72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Wealth Gap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pic>
        <p:nvPicPr>
          <p:cNvPr id="6" name="Picture 5" descr="deck_equ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005072" cy="3337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4892040"/>
            <a:ext cx="4005072" cy="1554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43800" y="4956048"/>
            <a:ext cx="3822191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EXECUTIVE TAKEAWAY FROM THE DATA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Baseline generates 2x the profit: +Rs. 42.67L (+85.4%) vs +Rs. 21.40L (+42.8%).</a:t>
            </a:r>
            <a:br/>
            <a:r>
              <a:t>• Banked cash difference is massive: +Rs. 24.81 Lakhs extra realized cash.</a:t>
            </a:r>
            <a:br/>
            <a:r>
              <a:t>• The -Rs. 2.85L open dip is minor: Easily absorbed by +Rs. 24.81L cash cushion.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EXECUTIVE AT-A-GLANCE SUMMARY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Essential Comparison: 3 Numbers That Settle the Debate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011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1. TOTAL NET PROFIT GENERATED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₹42.67 Lakhs (+85.4%)</a:t>
            </a:r>
            <a:br/>
            <a:r>
              <a:t>With CAR: ₹21.40 Lakhs (+42.8%)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+₹21.28 LAKHS (+99.5% EXTRA)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Baseline produced exactly double the net wealth over 6.8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2. REALIZED CASH IN HAND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₹45.53 Lakhs</a:t>
            </a:r>
            <a:br/>
            <a:r>
              <a:t>With CAR: ₹20.72 Lakhs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+₹24.81 LAKHS EXTRA CASH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Banked hard profit in your account dwarfing any floating dip.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383280" cy="2011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3. MAXIMUM PORTFOLIO RISK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5.27% Drawdown</a:t>
            </a:r>
            <a:br/>
            <a:r>
              <a:t>With CAR: 4.92% Drawdown</a:t>
            </a:r>
          </a:p>
          <a:p>
            <a:pPr>
              <a:defRPr sz="1100" b="1">
                <a:solidFill>
                  <a:srgbClr val="D97706"/>
                </a:solidFill>
              </a:defRPr>
            </a:pPr>
            <a:r>
              <a:t>ONLY 0.35% RISK DIFFERENCE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CAR sacrificed ₹21.28L of profit for almost zero risk improvement.</a:t>
            </a:r>
          </a:p>
        </p:txBody>
      </p:sp>
      <p:pic>
        <p:nvPicPr>
          <p:cNvPr id="11" name="Picture 10" descr="deck_profi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5120640" cy="2834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35040" y="3611880"/>
            <a:ext cx="53949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749039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CORE TAKEAWAYS AT A GLANCE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Massive Cash Generation: Baseline realized Rs. 33.20L from 5% trades + Rs. 9.52L idle interest + Rs. 2.80L dividends = Rs. 45.53L total realized cash.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The Floating Drawdown is Irrelevant: The -Rs. 2.85L open dip is barely 6.2% of your Rs. 45.53L banked cash cushion. Net wealth is still Rs. 42.67L vs Rs. 21.40L.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Identical Capital Efficiency: Both models achieve ~28% Deployed XIRR when money is invested, but Baseline keeps capital active rather than sitting idle.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Ending Wealth Disparity: Initial Rs. 50.0L capital grew into Rs. 95.53 Lakhs in Baseline vs only Rs. 70.72 Lakhs with CAR.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STRATEGIC ANALYSIS &amp; CONCLUSION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Why No CAR (Baseline) is the Undisputed Winner: 4 Decisive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PILLAR 1: CASH IN HAND TRUMPS PAPER FLOATING DRAWDOWN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+₹24.81 Lakhs Extra Cash dwarfs the -₹2.85L Dip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Baseline realized ₹45.53 Lakhs in hard cash into bank reserves vs ₹20.72 Lakhs for CAR.</a:t>
            </a:r>
            <a:br/>
            <a:r>
              <a:t>• The -₹2.85 Lakhs floating drawdown at backtest end represents less than 6% of the banked profit cushion.</a:t>
            </a:r>
            <a:br/>
            <a:r>
              <a:t>• Even after fully paying out the floating dip, Baseline is still ahead by +₹21.28 Lakhs in pure net profit.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PILLAR 2: OVER-FILTERING STARVED THE COMPOUNDING MACHINE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Requiring 10 Days of Rising CAR Killed 979 Dip Bounces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The CAR filter requires 10 consecutive rising sessions anchored to the 52W High before entering.</a:t>
            </a:r>
            <a:br/>
            <a:r>
              <a:t>• During severe corrections, stocks bounce quickly for 5% targets before any 10-day rising trend confirms.</a:t>
            </a:r>
            <a:br/>
            <a:r>
              <a:t>• By missing 979 profitable dip-bounces, CAR starved the portfolio of reinvestable compounding cash.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212080" cy="22402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PILLAR 3: THE 0.35% DRAWDOWN ILLUSION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Sacrificing ₹21.28L Profit for 0.35% Risk is Irrational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Portfolio Max Drawdown was 4.92% with CAR vs 5.27% without CAR — a mere 0.35% difference!</a:t>
            </a:r>
            <a:br/>
            <a:r>
              <a:t>• Giving up literally HALF of your total returns (+42.8% vs +85.4%) to gain a 0.35% drawdown cushion is an indefensible risk-reward trade-off.</a:t>
            </a:r>
            <a:br/>
            <a:r>
              <a:t>• The portfolio-level diversification across 50 stocks already handles risk management natively.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212080" cy="2240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</a:defRPr>
            </a:pPr>
            <a:r>
              <a:t>PILLAR 4: MISMATCH WITH DARVAS SWING PHILOSOPHY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Dip Harvesting is Mean-Reverting, Not Trend Following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Bullish macro compounders ride long-term trends; Bearish dip tranches harvest short-term panic bounces.</a:t>
            </a:r>
            <a:br/>
            <a:r>
              <a:t>• Forcing a long-term trend filter (CAR rising 10d) onto mean-reverting dip trades is theoretically contradictory.</a:t>
            </a:r>
            <a:br/>
            <a:r>
              <a:t>• The baseline rule (Friday Close &gt; Previous Week High) is the ideal agile trigger for dip harvesting.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172200"/>
            <a:ext cx="1069848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FEF08A"/>
                </a:solidFill>
              </a:defRPr>
            </a:pPr>
            <a:r>
              <a:t>FINAL RECOMMENDATION: Stick to Baseline (No CAR) — Generates Rs. 42.67 Lakhs Net Profit (+85.4%), Banks Rs. 45.53L Cash, and Delivers Industry-Leading 28.05% Deployed XIRR.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</TotalTime>
  <Words>2892</Words>
  <Application>Microsoft Office PowerPoint</Application>
  <PresentationFormat>Widescreen</PresentationFormat>
  <Paragraphs>200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krishan fulera</cp:lastModifiedBy>
  <cp:revision>6</cp:revision>
  <dcterms:created xsi:type="dcterms:W3CDTF">2013-01-27T09:14:16Z</dcterms:created>
  <dcterms:modified xsi:type="dcterms:W3CDTF">2026-10-26T06:40:03Z</dcterms:modified>
  <cp:category/>
</cp:coreProperties>
</file>