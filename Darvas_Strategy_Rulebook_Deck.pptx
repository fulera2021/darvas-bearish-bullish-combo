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188720"/>
            <a:ext cx="411480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★ SYSTEMATIC TRADING &amp; BACKTESTING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The Darvas Bearish + Bullish Combo</a:t>
            </a:r>
          </a:p>
          <a:p>
            <a:pPr>
              <a:spcBef>
                <a:spcPts val="1200"/>
              </a:spcBef>
              <a:defRPr sz="1800">
                <a:solidFill>
                  <a:srgbClr val="94A3B8"/>
                </a:solidFill>
              </a:defRPr>
            </a:pPr>
            <a:r>
              <a:t>How the Strategy Operates Behind the Scenes: Signals, Tranches, Exits &amp; Live Case Study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572000"/>
            <a:ext cx="3291840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TRACKING RADAR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Rolling 20-Week Low &amp; High triggers active state detection automatically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4572000"/>
            <a:ext cx="3291840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5 TRANCHE SLOTS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100k capital split into 5 slots (1 Bullish Trend + 4 Bearish Dip harvesters)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4572000"/>
            <a:ext cx="3291840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D97706"/>
                </a:solidFill>
              </a:defRPr>
            </a:pPr>
            <a:r>
              <a:t>LIVE RELIANCE PROOF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100% win rate on 17 closed trades, +35.3% realized profit, -10.3% max drawdown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OPERATIONAL RULEBOOK FOR LAYMEN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The Core Architecture: Two Engines in One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THE PROBLEM WITH NORMAL INVESTING</a:t>
            </a:r>
          </a:p>
          <a:p>
            <a:pPr>
              <a:spcBef>
                <a:spcPts val="1400"/>
              </a:spcBef>
              <a:defRPr sz="1300" b="1">
                <a:solidFill>
                  <a:srgbClr val="0F172A"/>
                </a:solidFill>
              </a:defRPr>
            </a:pPr>
            <a:r>
              <a:t>• Markets Chop 70% of the Time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Stocks rarely go straight up. Most of the year is spent in frustrating pullbacks, corrections, and sideways channels.</a:t>
            </a:r>
          </a:p>
          <a:p>
            <a:pPr>
              <a:spcBef>
                <a:spcPts val="1400"/>
              </a:spcBef>
              <a:defRPr sz="1300" b="1">
                <a:solidFill>
                  <a:srgbClr val="0F172A"/>
                </a:solidFill>
              </a:defRPr>
            </a:pPr>
            <a:r>
              <a:t>• Traditional Buy-and-Hold Suffers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Investors sit on idle capital or experience painful drawdowns waiting years for a stock to recover.</a:t>
            </a:r>
          </a:p>
          <a:p>
            <a:pPr>
              <a:spcBef>
                <a:spcPts val="1400"/>
              </a:spcBef>
              <a:defRPr sz="1300" b="1">
                <a:solidFill>
                  <a:srgbClr val="0F172A"/>
                </a:solidFill>
              </a:defRPr>
            </a:pPr>
            <a:r>
              <a:t>• Pure Momentum Strategies Get Whiplashed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Buying at all-time highs without risk buffers often leads to getting trapped at market tops.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OUR SOLUTION: THE DUAL ENGINE SYSTEM</a:t>
            </a:r>
          </a:p>
          <a:p>
            <a:pPr>
              <a:spcBef>
                <a:spcPts val="1400"/>
              </a:spcBef>
              <a:defRPr sz="1300" b="1">
                <a:solidFill>
                  <a:srgbClr val="0F172A"/>
                </a:solidFill>
              </a:defRPr>
            </a:pPr>
            <a:r>
              <a:t>✔ ENGINE 1: Bearish Dip-Harvester (Slots 2 to 5)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When a stock enters a correction, it activates a special radar. Each time the stock makes a weekly swing bounce, we buy a tranche and exit rapidly at a strict +5% target. It turns market drops into cash machines!</a:t>
            </a:r>
          </a:p>
          <a:p>
            <a:pPr>
              <a:spcBef>
                <a:spcPts val="1400"/>
              </a:spcBef>
              <a:defRPr sz="1300" b="1">
                <a:solidFill>
                  <a:srgbClr val="0F172A"/>
                </a:solidFill>
              </a:defRPr>
            </a:pPr>
            <a:r>
              <a:t>✔ ENGINE 2: Bullish Trend-Rider (Slot 1)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When a stock breaks out above its 20-week high, we allocate 1 dedicated slot to ride the massive macro uptrend. We do NOT cap it at 5%; we let it compound until the entire bull run ends!</a:t>
            </a:r>
          </a:p>
          <a:p>
            <a:pPr>
              <a:spcBef>
                <a:spcPts val="1400"/>
              </a:spcBef>
              <a:defRPr sz="1300" b="1">
                <a:solidFill>
                  <a:srgbClr val="0F172A"/>
                </a:solidFill>
              </a:defRPr>
            </a:pPr>
            <a:r>
              <a:t>✔ Dynamic Compounding &amp; Recycling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Every profit won and dividend paid is automatically reinvested back into future tranches, accelerating wealth exponentially.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OPERATIONAL RULEBOOK FOR LAYMEN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Capital Architecture: How 100,000 is Divided &amp; Managed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057400" cy="29260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SLOT 1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BULLISH TREND</a:t>
            </a:r>
          </a:p>
          <a:p>
            <a:pPr>
              <a:spcBef>
                <a:spcPts val="400"/>
              </a:spcBef>
              <a:defRPr sz="1200" b="1">
                <a:solidFill>
                  <a:srgbClr val="1E3A8A"/>
                </a:solidFill>
              </a:defRPr>
            </a:pPr>
            <a:r>
              <a:t>20,000 (Base)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</a:defRPr>
            </a:pPr>
            <a:r>
              <a:t>Trigger: 20-Week High Breakout</a:t>
            </a:r>
            <a:br/>
            <a:r>
              <a:t>Exit: 20W Low &amp; &gt;=15% p.a.</a:t>
            </a:r>
            <a:br/>
            <a:r>
              <a:t>Rides multi-year compounding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463040"/>
            <a:ext cx="20574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SLOT 2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BEARISH DIP 1</a:t>
            </a:r>
          </a:p>
          <a:p>
            <a:pPr>
              <a:spcBef>
                <a:spcPts val="400"/>
              </a:spcBef>
              <a:defRPr sz="1200" b="1">
                <a:solidFill>
                  <a:srgbClr val="1E3A8A"/>
                </a:solidFill>
              </a:defRPr>
            </a:pPr>
            <a:r>
              <a:t>20,000 (Base)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</a:defRPr>
            </a:pPr>
            <a:r>
              <a:t>Trigger: Weekly Close &gt; Prev High</a:t>
            </a:r>
            <a:br/>
            <a:r>
              <a:t>Exit: Exact +5% Target</a:t>
            </a:r>
            <a:br/>
            <a:r>
              <a:t>Recycles immediately on fill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463040"/>
            <a:ext cx="20574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SLOT 3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BEARISH DIP 2</a:t>
            </a:r>
          </a:p>
          <a:p>
            <a:pPr>
              <a:spcBef>
                <a:spcPts val="400"/>
              </a:spcBef>
              <a:defRPr sz="1200" b="1">
                <a:solidFill>
                  <a:srgbClr val="1E3A8A"/>
                </a:solidFill>
              </a:defRPr>
            </a:pPr>
            <a:r>
              <a:t>20,000 (Base)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</a:defRPr>
            </a:pPr>
            <a:r>
              <a:t>Trigger: Next weekly breakout</a:t>
            </a:r>
            <a:br/>
            <a:r>
              <a:t>Exit: Exact +5% Target</a:t>
            </a:r>
            <a:br/>
            <a:r>
              <a:t>Independent share position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199" y="1463040"/>
            <a:ext cx="20574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SLOT 4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BEARISH DIP 3</a:t>
            </a:r>
          </a:p>
          <a:p>
            <a:pPr>
              <a:spcBef>
                <a:spcPts val="400"/>
              </a:spcBef>
              <a:defRPr sz="1200" b="1">
                <a:solidFill>
                  <a:srgbClr val="1E3A8A"/>
                </a:solidFill>
              </a:defRPr>
            </a:pPr>
            <a:r>
              <a:t>20,000 (Base)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</a:defRPr>
            </a:pPr>
            <a:r>
              <a:t>Trigger: Next weekly breakout</a:t>
            </a:r>
            <a:br/>
            <a:r>
              <a:t>Exit: Exact +5% Target</a:t>
            </a:r>
            <a:br/>
            <a:r>
              <a:t>Averages down systematically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1463040"/>
            <a:ext cx="20574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SLOT 5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BEARISH DIP 4</a:t>
            </a:r>
          </a:p>
          <a:p>
            <a:pPr>
              <a:spcBef>
                <a:spcPts val="400"/>
              </a:spcBef>
              <a:defRPr sz="1200" b="1">
                <a:solidFill>
                  <a:srgbClr val="1E3A8A"/>
                </a:solidFill>
              </a:defRPr>
            </a:pPr>
            <a:r>
              <a:t>20,000 (Base)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</a:defRPr>
            </a:pPr>
            <a:r>
              <a:t>Trigger: Deep corrective bounce</a:t>
            </a:r>
            <a:br/>
            <a:r>
              <a:t>Exit: Exact +5% Target</a:t>
            </a:r>
            <a:br/>
            <a:r>
              <a:t>Maximum safety reserve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5212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DISCRETE SHARE SIZING FORMULA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Shares Bought = Floor(Tranche Capital / Buy Price)</a:t>
            </a:r>
            <a:br/>
            <a:r>
              <a:t>• Example: If Tranche Capital = 20,000 and Stock is 1,102.29:</a:t>
            </a:r>
            <a:br/>
            <a:r>
              <a:t>  Shares = Floor(20,000 / 1102.29) = 18 Shares (Invested: 19,841.22)</a:t>
            </a:r>
            <a:br/>
            <a:r>
              <a:t>• Unused fractional cash stays in the cash buffer to earn interest!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663440"/>
            <a:ext cx="5212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75488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DYNAMIC CAPITAL COMPOUNDING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Current Capital = Initial (100k) + Realized Profits + Dividends</a:t>
            </a:r>
            <a:br/>
            <a:r>
              <a:t>Tranche Capital = Current Capital / 5 Parts</a:t>
            </a:r>
            <a:br/>
            <a:r>
              <a:t>• As profits roll in, Slot size automatically grows to 21k, 22k, 25k+!</a:t>
            </a:r>
            <a:br/>
            <a:r>
              <a:t>• Each slot operates with bigger size without depositing any fresh money.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OPERATIONAL RULEBOOK FOR LAYMEN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Phase 1: When Does Tracking Start? (The Radar Mechanics)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STEP 1: The 20-Week Window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The system calculates two rolling benchmarks every Friday:</a:t>
            </a:r>
            <a:br/>
            <a:r>
              <a:t>• Rolling 20-Week High (20WH): Highest price seen in the last 20 weeks.</a:t>
            </a:r>
            <a:br/>
            <a:r>
              <a:t>• Rolling 20-Week Low (20WL): Lowest price seen in the last 20 weeks.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63040"/>
            <a:ext cx="34747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STEP 2: Bearish Radar Activation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When Friday Weekly Close &lt; Rolling 20-Week Low:</a:t>
            </a:r>
            <a:br/>
            <a:r>
              <a:t>• The stock is confirmed to be in a deep correction / bear phase.</a:t>
            </a:r>
            <a:br/>
            <a:r>
              <a:t>• Bearish Tracking turns ON.</a:t>
            </a:r>
            <a:br/>
            <a:r>
              <a:t>• The engine begins looking for weekly dip-buying breakout opportunities.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463040"/>
            <a:ext cx="34747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STEP 3: Radar Deactivation &amp; Bullish Shift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When Friday Weekly Close &gt; Rolling 20-Week High:</a:t>
            </a:r>
            <a:br/>
            <a:r>
              <a:t>• Bearish Tracking immediately turns OFF.</a:t>
            </a:r>
            <a:br/>
            <a:r>
              <a:t>• The deep dip phase is over; a fresh macro bull market has started.</a:t>
            </a:r>
            <a:br/>
            <a:r>
              <a:t>• Bullish Momentum Tranche is deployed to ride the new high!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106984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THE TRACKING STATE MACHINE (BEHIND THE SCENES)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Why 20 Weeks (~5 Months)? In technical finance, 20 weeks represents a full institutional business cycle. It filters out daily noise and ensures we only deploy capital when a real cyclical boundary has been reached.</a:t>
            </a:r>
            <a:br/>
            <a:br/>
            <a:r>
              <a:t>• NORMAL / INACTIVE STATE: If the stock is hovering quietly in the middle of its 20-week channel, the engine stays 100% idle in cash, earning safe interest.</a:t>
            </a:r>
            <a:br/>
            <a:r>
              <a:t>• DOWNTREND STATE: Activated ONLY when market breaks below the 20W floor. We buy the swings on the way down.</a:t>
            </a:r>
            <a:br/>
            <a:r>
              <a:t>• UPTREND STATE: Activated ONLY when market breaks above the 20W ceiling. We buy the breakout and ride it 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OPERATIONAL RULEBOOK FOR LAYMEN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Phase 2: When is Buying Done? (Two-Step Execution Mechanics)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TWO-STEP ORDER EXECUTION</a:t>
            </a:r>
          </a:p>
          <a:p>
            <a:pPr>
              <a:spcBef>
                <a:spcPts val="1200"/>
              </a:spcBef>
              <a:defRPr sz="1250" b="1">
                <a:solidFill>
                  <a:srgbClr val="0F172A"/>
                </a:solidFill>
              </a:defRPr>
            </a:pPr>
            <a:r>
              <a:t>• Step 1: Signal Generation (Friday 3:30 PM)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The backtest engine checks Friday Weekly Close:</a:t>
            </a:r>
            <a:br/>
            <a:r>
              <a:t>Does Weekly Close &gt; Previous Week High?</a:t>
            </a:r>
            <a:br/>
            <a:r>
              <a:t>If YES and free slots exist, a Pending Buy Setup is registered for next week.</a:t>
            </a:r>
            <a:br/>
            <a:r>
              <a:t>Entry Ceiling Price = Friday Close * 1.005 (+0.5% buffer)</a:t>
            </a:r>
          </a:p>
          <a:p>
            <a:pPr>
              <a:spcBef>
                <a:spcPts val="1200"/>
              </a:spcBef>
              <a:defRPr sz="1250" b="1">
                <a:solidFill>
                  <a:srgbClr val="0F172A"/>
                </a:solidFill>
              </a:defRPr>
            </a:pPr>
            <a:r>
              <a:t>• Step 2: Order Fill (Monday to Friday Daily Market)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During the next trading week, the engine checks every daily bar:</a:t>
            </a:r>
            <a:br/>
            <a:r>
              <a:t>Is Daily Low &lt;= Entry Ceiling Price?</a:t>
            </a:r>
            <a:br/>
            <a:r>
              <a:t>If YES: Buy Tranche is FILLED!</a:t>
            </a:r>
            <a:br/>
            <a:r>
              <a:t>Fill Price = min(Daily Open, Entry Ceiling Price)</a:t>
            </a:r>
            <a:br/>
            <a:r>
              <a:t>Target Price = Buy Price * 1.05 (+5.0% profit)</a:t>
            </a:r>
          </a:p>
          <a:p>
            <a:pPr>
              <a:spcBef>
                <a:spcPts val="1200"/>
              </a:spcBef>
              <a:defRPr sz="1250" b="1">
                <a:solidFill>
                  <a:srgbClr val="0F172A"/>
                </a:solidFill>
              </a:defRPr>
            </a:pPr>
            <a:r>
              <a:t>• The Expiration Rule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If the stock gaps up violently and stays above the ceiling all week, the order is cancelled with zero penalty. Cycle repeats cleanly next week.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FOUR CRITICAL RISK GUARDRAILS</a:t>
            </a:r>
          </a:p>
          <a:p>
            <a:pPr>
              <a:spcBef>
                <a:spcPts val="1200"/>
              </a:spcBef>
              <a:defRPr sz="1250" b="1">
                <a:solidFill>
                  <a:srgbClr val="0F172A"/>
                </a:solidFill>
              </a:defRPr>
            </a:pPr>
            <a:r>
              <a:t>🛡 Maximum 1 Tranche Per Week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No matter how strong a single week looks, we never deploy more than 1 slot in the same week. This forces temporal diversification across different weeks.</a:t>
            </a:r>
          </a:p>
          <a:p>
            <a:pPr>
              <a:spcBef>
                <a:spcPts val="1200"/>
              </a:spcBef>
              <a:defRPr sz="1250" b="1">
                <a:solidFill>
                  <a:srgbClr val="0F172A"/>
                </a:solidFill>
              </a:defRPr>
            </a:pPr>
            <a:r>
              <a:t>🛡 Strict 5-Slot Capacity Ceiling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If all 5 slots are occupied, the engine automatically ignores all new buy signals. We never borrow on margin or over-allocate.</a:t>
            </a:r>
          </a:p>
          <a:p>
            <a:pPr>
              <a:spcBef>
                <a:spcPts val="1200"/>
              </a:spcBef>
              <a:defRPr sz="1250" b="1">
                <a:solidFill>
                  <a:srgbClr val="0F172A"/>
                </a:solidFill>
              </a:defRPr>
            </a:pPr>
            <a:r>
              <a:t>🛡 Anti-Clustering Spacing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Prevents buying two tranches at the exact same price. New tranches are spaced out across distinct price levels.</a:t>
            </a:r>
          </a:p>
          <a:p>
            <a:pPr>
              <a:spcBef>
                <a:spcPts val="1200"/>
              </a:spcBef>
              <a:defRPr sz="1250" b="1">
                <a:solidFill>
                  <a:srgbClr val="0F172A"/>
                </a:solidFill>
              </a:defRPr>
            </a:pPr>
            <a:r>
              <a:t>🛡 Limit Protection (No Slippage Trap)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Using a +0.5% limit ceiling ensures we never chase sudden price spikes or enter at unfavorable prices.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OPERATIONAL RULEBOOK FOR LAYMEN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Phase 3: When Are Tranches Sold? (The Two Distinct Exit Paths)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PATH A: BEARISH DIP TRANCHES (SLOTS 2 - 5)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</a:defRPr>
            </a:pPr>
            <a:r>
              <a:t>🎯 STRICT +5.0% PROFIT TARGET EXIT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Rule: Sold the instant Daily High &gt;= Buy Price * 1.05</a:t>
            </a:r>
            <a:br/>
            <a:r>
              <a:t>• Execution: Sells automatically at the exact Target Price.</a:t>
            </a:r>
            <a:br/>
            <a:r>
              <a:t>• Holding Time: Averages 20 to 45 calendar days.</a:t>
            </a:r>
            <a:br/>
            <a:r>
              <a:t>• Immediate Slot Recycling: The moment the 5% profit is booked, the capital plus profit is returned to available cash, and that specific Slot becomes 100% free to catch the next signal!</a:t>
            </a:r>
            <a:br/>
            <a:r>
              <a:t>• No Stop Loss: We do not panic-sell dips. In quality large-cap stocks like Reliance, pullbacks are temporary. Each tranche holds until its +5% profit is realized.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PATH B: BULLISH MOMENTUM TRANCHE (SLOT 1)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</a:defRPr>
            </a:pPr>
            <a:r>
              <a:t>🚀 MACRO TREND COMPOUNDER (NO 5% CAP!)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Philosophy: In a multi-year bull run, exiting at 5% leaves massive wealth on the table. Slot 1 is designed to ride the entire wave!</a:t>
            </a:r>
            <a:br/>
            <a:r>
              <a:t>• Exit Condition 1: Weekly Close drops below the Rolling 20-Week Low (A full trend reversal confirmed).</a:t>
            </a:r>
            <a:br/>
            <a:r>
              <a:t>• Exit Condition 2: AND the achieved return must be &gt;= 15% per annum for the time held:</a:t>
            </a:r>
            <a:br/>
            <a:r>
              <a:t>  Required Profit % = 15% * (Days Held / 365.25)</a:t>
            </a:r>
            <a:br/>
            <a:r>
              <a:t>• If market dips below 20W low but hasn't achieved 15% p.a., it continues holding until the target hurdle is cleared!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OPERATIONAL RULEBOOK FOR LAYMEN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The Complete Step-by-Step Lifecycle of a Trade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57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1. WEEKLY RADAR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Friday 3:30 PM</a:t>
            </a:r>
            <a:br/>
            <a:r>
              <a:t>• Checks Close &gt; 20W Low</a:t>
            </a:r>
            <a:br/>
            <a:r>
              <a:t>• Checks Close &gt; Prev High</a:t>
            </a:r>
            <a:br/>
            <a:r>
              <a:t>• Verifies free slots exist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645920"/>
            <a:ext cx="2057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200" b="1">
                <a:solidFill>
                  <a:srgbClr val="6366F1"/>
                </a:solidFill>
              </a:defRPr>
            </a:pPr>
            <a:r>
              <a:t>2. PENDING ORDER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Weekend Setup</a:t>
            </a:r>
            <a:br/>
            <a:r>
              <a:t>• Locks reference price</a:t>
            </a:r>
            <a:br/>
            <a:r>
              <a:t>• Sets entry ceiling (+0.5%)</a:t>
            </a:r>
            <a:br/>
            <a:r>
              <a:t>• Sized to 1/5th capital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645920"/>
            <a:ext cx="2057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3. DAILY FILL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Next Week Mon-Fri</a:t>
            </a:r>
            <a:br/>
            <a:r>
              <a:t>• Low &lt;= Entry Ceiling</a:t>
            </a:r>
            <a:br/>
            <a:r>
              <a:t>• Fills at min(Open, Ceiling)</a:t>
            </a:r>
            <a:br/>
            <a:r>
              <a:t>• Target set at +5%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199" y="1645920"/>
            <a:ext cx="2057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200" b="1">
                <a:solidFill>
                  <a:srgbClr val="D97706"/>
                </a:solidFill>
              </a:defRPr>
            </a:pPr>
            <a:r>
              <a:t>4. POSITION HELD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Daily Monitoring</a:t>
            </a:r>
            <a:br/>
            <a:r>
              <a:t>• Trailing checks active</a:t>
            </a:r>
            <a:br/>
            <a:r>
              <a:t>• Dividends credited (T-2)</a:t>
            </a:r>
            <a:br/>
            <a:r>
              <a:t>• Cash buffer earns interest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1645920"/>
            <a:ext cx="2057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5. TARGET HIT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Profit Realized!</a:t>
            </a:r>
            <a:br/>
            <a:r>
              <a:t>• High &gt;= Target Price</a:t>
            </a:r>
            <a:br/>
            <a:r>
              <a:t>• +5% gain locked in</a:t>
            </a:r>
            <a:br/>
            <a:r>
              <a:t>• Slot instantly recycled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106984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THE RECYCLING FLYWHEEL: WHY THIS BEATS STATIC BUY &amp; HOLD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In traditional investing, you buy once and wait. In our 5-tranche system:</a:t>
            </a:r>
            <a:br/>
            <a:r>
              <a:t>• Slot 2 buys at 1,075, sells at 1,129 (Profit: 968) -&gt; Slot 2 is recycled.</a:t>
            </a:r>
            <a:br/>
            <a:r>
              <a:t>• Slot 2 then buys at 1,126, sells at 1,183 (Profit: 957) -&gt; Slot 2 is recycled again.</a:t>
            </a:r>
            <a:br/>
            <a:r>
              <a:t>• Slot 2 then buys at 1,159, sells at 1,217 (Profit: 1,043) -&gt; Slot 2 is recycled again.</a:t>
            </a:r>
            <a:br/>
            <a:r>
              <a:t>The same 20,000 capital was deployed 3 times in 8 months, harvesting profits repeatedly!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OPERATIONAL RULEBOOK FOR LAYMEN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Live Case Study: RELIANCE (RELIANCE.NS) Performance Scorecard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TOTAL CAPITAL</a:t>
            </a:r>
          </a:p>
          <a:p>
            <a:pPr>
              <a:spcBef>
                <a:spcPts val="200"/>
              </a:spcBef>
              <a:defRPr sz="2600" b="1">
                <a:solidFill>
                  <a:srgbClr val="1E3A8A"/>
                </a:solidFill>
              </a:defRPr>
            </a:pPr>
            <a:r>
              <a:t>100,000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Initial base allocation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6432" y="1463040"/>
            <a:ext cx="25603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TOTAL REALIZED PROFIT</a:t>
            </a:r>
          </a:p>
          <a:p>
            <a:pPr>
              <a:spcBef>
                <a:spcPts val="200"/>
              </a:spcBef>
              <a:defRPr sz="2600" b="1">
                <a:solidFill>
                  <a:srgbClr val="10B981"/>
                </a:solidFill>
              </a:defRPr>
            </a:pPr>
            <a:r>
              <a:t>35,275.86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+35.28% net realized gain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463040"/>
            <a:ext cx="25603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WIN RATE (CLOSED)</a:t>
            </a:r>
          </a:p>
          <a:p>
            <a:pPr>
              <a:spcBef>
                <a:spcPts val="200"/>
              </a:spcBef>
              <a:defRPr sz="2600" b="1">
                <a:solidFill>
                  <a:srgbClr val="10B981"/>
                </a:solidFill>
              </a:defRPr>
            </a:pPr>
            <a:r>
              <a:t>100.0%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17 out of 17 trades won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06256" y="1463040"/>
            <a:ext cx="25603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MAX DRAWDOWN</a:t>
            </a:r>
          </a:p>
          <a:p>
            <a:pPr>
              <a:spcBef>
                <a:spcPts val="200"/>
              </a:spcBef>
              <a:defRPr sz="2600" b="1">
                <a:solidFill>
                  <a:srgbClr val="D97706"/>
                </a:solidFill>
              </a:defRPr>
            </a:pPr>
            <a:r>
              <a:t>-10.3%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Extremely low risk volatility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106984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10332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KEY OPERATIONAL METRICS FOR RELIANCE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Total Trades Taken: 18 Trades (1 Bullish Trend Tranche + 17 Bearish Dip Tranches)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Completed / Closed Trades: 17 Trades (All 17 hit the exact +5% profit target cleanly)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Active Open Positions: 1 Trade (Slot 1 Bullish Tranche bought at 1,102.29, currently compounding)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Average Holding Time: 41 Calendar Days (Fast cash rotation, rarely tied down for long periods)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Maximum Concurrently Active Slots: 5 Slots (Full utilization only during major market-wide corrections)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Portfolio XIRR %: 13.4% Annualized Return on overall portfolio (including all idle cash periods!)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OPERATIONAL RULEBOOK FOR LAYMEN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RELIANCE Trade Journal: The Anatomy of Real Executions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865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5332"/>
                <a:gridCol w="975332"/>
                <a:gridCol w="975332"/>
                <a:gridCol w="975332"/>
                <a:gridCol w="975332"/>
                <a:gridCol w="975332"/>
                <a:gridCol w="975332"/>
                <a:gridCol w="975332"/>
                <a:gridCol w="975332"/>
                <a:gridCol w="975332"/>
                <a:gridCol w="975335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Trade #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Slot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Buy Date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Buy Price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Shares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Sell Date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Sell Price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Profit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Days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Slot 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Bullish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03-Sep-2021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1102.29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OPEN (Compounding)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Slot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Bearish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31-Mar-2023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1075.78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04-May-2023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1129.57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+968.22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CLOSED (+5%)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Slot 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Bearish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13-Apr-2023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1087.06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08-May-2023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1141.41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+978.30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CLOSED (+5%)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Slot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Bearish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05-May-2023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1126.87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16-Jun-2023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1183.21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+957.78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CLOSED (+5%)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Slot 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Bearish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03-Nov-2023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1159.85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04-Dec-2023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1217.84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+1043.82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CLOSED (+5%)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Slot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Bearish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08-Dec-2023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1227.88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20-Dec-2023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1289.27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+1043.63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CLOSED (+5%)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Slot 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Bearish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03-Jan-2025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1251.15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17-Jan-2025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1313.71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+1063.52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CLOSED (+5%)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Slot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Bearish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25-Apr-2025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1300.40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28-Apr-2025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1365.42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+1105.34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CLOSED (+5%)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937760"/>
            <a:ext cx="106984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KEY OBSERVATIONS FROM REAL RELIANCE TRADES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1. Compounding at Work: Notice how Trade #2 made 968 profit, while Trade #18 made 1,105 profit (+14% larger profit) because the tranche size dynamically grew from 19k to 22k!</a:t>
            </a:r>
            <a:br/>
            <a:r>
              <a:t>2. Speed of Rotation: Trade #18 hit its +5% target in just 3 days! Trade #10 in 12 days! The capital is rarely idle.</a:t>
            </a:r>
            <a:br/>
            <a:r>
              <a:t>3. No Panic Selling: During corrections in 2023 and 2024, the strategy systematically deployed tranches and harvested +5% gains on every rebound.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OPERATIONAL RULEBOOK FOR LAYMEN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Summary: Why This Strategy Excels for Laymen Investors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100% Objective &amp; Emotionless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No predictions, no news watching, no opinions.</a:t>
            </a:r>
            <a:br/>
            <a:r>
              <a:t>• Everything is 100% mathematical based on weekly closing prices and strict +5% limits.</a:t>
            </a:r>
            <a:br/>
            <a:r>
              <a:t>• Removes fear during crashes and greed during rallies.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63040"/>
            <a:ext cx="347472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Asymmetric Risk Protection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Maximum 5 tranches prevents catastrophic overexposure.</a:t>
            </a:r>
            <a:br/>
            <a:r>
              <a:t>• Max drawdown on Reliance was just -10.3%.</a:t>
            </a:r>
            <a:br/>
            <a:r>
              <a:t>• Idle capital sits safely earning risk-free interest buffer.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463040"/>
            <a:ext cx="347472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Proven Compounding Engine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Dual engine: harvests short swings while letting the macro bull trend run.</a:t>
            </a:r>
            <a:br/>
            <a:r>
              <a:t>• Automatic dynamic tranche scaling reinvests profits automatically.</a:t>
            </a:r>
            <a:br/>
            <a:r>
              <a:t>• High liquidity large-cap universe ensures zero execution slippage.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46320"/>
            <a:ext cx="10698480" cy="1463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THE BOTTOM LINE FOR STAKEHOLDERS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This strategy solves the single biggest flaw in retail investing: emotional decision-making. By combining high-velocity 5% swing harvesting during pullbacks with a patient multi-year trend-riding tranche, it delivers steady wealth accumulation with extraordinary peace of mind.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