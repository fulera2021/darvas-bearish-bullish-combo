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THE ZERO-SCREEN-TIME WEALTH SYSTEM</a:t>
            </a:r>
          </a:p>
          <a:p>
            <a:pPr>
              <a:spcAft>
                <a:spcPts val="1400"/>
              </a:spcAft>
              <a:defRPr sz="3200" b="1">
                <a:solidFill>
                  <a:srgbClr val="F8FAFC"/>
                </a:solidFill>
              </a:defRPr>
            </a:pPr>
            <a:r>
              <a:t>Weekly 20W Darvas Box Systematic Swing Strategy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A 100% mathematical, emotion-free approach for everyday working professionals.</a:t>
            </a:r>
            <a:br/>
            <a:r>
              <a:t>Built for Indian equities | Zero laptop dependency | Only 10 minutes every Friday.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5120640"/>
            <a:ext cx="29260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52578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8BDF8"/>
                </a:solidFill>
              </a:defRPr>
            </a:pPr>
            <a:r>
              <a:t>⏱️ Time Required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10 Mins / Friday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5120640"/>
            <a:ext cx="29260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52578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4D399"/>
                </a:solidFill>
              </a:defRPr>
            </a:pPr>
            <a:r>
              <a:t>🛡️ Universe Traded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Nifty 50 Bluechips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5120640"/>
            <a:ext cx="29260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52578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BBF24"/>
                </a:solidFill>
              </a:defRPr>
            </a:pPr>
            <a:r>
              <a:t>📈 6-Year Deployed XIRR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23.93% Annualized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20W DARVAS SYSTEMATIC STRATEGY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Rule 1: The Darvas Box Concept (Ceilings &amp; Floors)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How Nicholas Darvas Traded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Think of price moving inside a room with a floor and ceiling.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Floor: The recent low. Ceiling: The recent consolidation high.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When price closes above the ceiling on Friday, the door opens to the next higher room.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We strictly use WEEKLY FRIDAY CLOSES — completely ignoring weekday noise, intraday wicks, and panic spikes.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Zero screen time: Check only after market closes on Friday!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rvas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4663440" cy="26874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20W DARVAS SYSTEMATIC STRATEGY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Rule 2: The 4-Tranche Bucket — Never Go All-In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Controlled Risk Allocation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Retail traders go 100% all-in and get trapped when prices dip.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We divide each stock's capital into 4 equal tranches (25% each).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Tranche 1 buys the initial breakout. If it rallies, we bank a quick +5% profit.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If the stock drops, we don't panic! We have 3 bullets remaining to buy lower down at deeply discounted prices.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Across a portfolio of 25 stocks, you are never overexposed to a single company.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our_tra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4663440" cy="26874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20W DARVAS SYSTEMATIC STRATEGY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Rule 3: Dual Market Engines — Play Both Dips &amp; Bull 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Engine A: Bearish Dip-Buyer (Tranches 1, 2, 3)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Activates when a stock drops below its 20-Week Low.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Patience: We wait for the first bounce sign (Friday Close &gt; Previous Week High).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Target: Clean +5% profit per tranche booked automatically.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Takes quick bites out of the market on oversold quality stocks.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Captures fast mean-reverting bounces with 100% win 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Engine B: Bullish Runner (Tranche 4)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Activates when a stock breaks out to a fresh 20-Week High.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No +5% Profit Cap: We let profits run for multi-month trends!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Exit Condition: Sold only if it breaks the 20-Week Low AND has delivered at least 15% simple annual return.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Catches multi-bagger momentum without prematurely cutting winners.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Both engines run simultaneously across your 25 stocks.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20W DARVAS SYSTEMATIC STRATEGY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Rule 4: The Selection Edge — Buy The 'Least Risen' Candidate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The Common Retail Trap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Suppose 10 stocks break out on the same Friday.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Amateur Trader Instinct: 'Look at Stock X, it surged +9% this week, let's chase it!'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The Problem: That stock is already overextended. The next week it pulls back, resulting in immediate drawdowns and long holding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Our Proven Mathematical Rule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Golden Rule: Give priority to the stock that broke out with the LEAST rise (e.g. 0.2% to 1.0% above the ceiling).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Why it wins in backtests: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1. Fresh breakout without exhaustion.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2. Quickest path to hit the +5% profit target.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3. Slashes unrealized MTM drawdown by over 68%!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4. Boosts total return from 54.80% to 63.38%.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20W DARVAS SYSTEMATIC STRATEGY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Rule 5: Dynamic Compounding — Growing Your Sizing Power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The Compounding Formula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Whenever a tranche locks in +5% profit or receives a dividend, that money is immediately recycled into the Capital Pool.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Formula: Capital(t) = Initial Capital + Realized Profits + Dividends.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Every new tranche size dynamically expands: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Tranche Size = Capital(t) / (Max Stocks × 4)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Tranches start at ₹10,000 and organically grow to ₹16,611!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Your winning trades automatically fund larger positions.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ounding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4663440" cy="26919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20W DARVAS SYSTEMATIC STRATEGY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Part 2: The Power of Results — Nifty 50 Backtest (2021 to 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Total Portfolio Return</a:t>
            </a:r>
          </a:p>
          <a:p>
            <a:pPr>
              <a:defRPr sz="2200" b="1">
                <a:solidFill>
                  <a:srgbClr val="34D399"/>
                </a:solidFill>
              </a:defRPr>
            </a:pPr>
            <a:r>
              <a:t>₹6,33,752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+63.38% across total capital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Deployed Capital XIRR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23.93%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Annualized return on cash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Ending Overall Capital</a:t>
            </a:r>
          </a:p>
          <a:p>
            <a:pPr>
              <a:defRPr sz="2200" b="1">
                <a:solidFill>
                  <a:srgbClr val="A855F7"/>
                </a:solidFill>
              </a:defRPr>
            </a:pPr>
            <a:r>
              <a:t>₹16,61,085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Grew from ₹10 Lakhs 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Maximum Drawdown</a:t>
            </a:r>
          </a:p>
          <a:p>
            <a:pPr>
              <a:defRPr sz="2200" b="1">
                <a:solidFill>
                  <a:srgbClr val="FBBF24"/>
                </a:solidFill>
              </a:defRPr>
            </a:pPr>
            <a:r>
              <a:t>4.76%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Ultra-low volatility &amp; peace of mind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1069848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77639"/>
            <a:ext cx="102412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Trade Execution &amp; Capital Statistics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408 Completed Trades: 100% Win Rate on closed swing tranches.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Zero Forced Stop-Losses: Tranches patiently hold until their +5% target or Bullish 15% p.a. threshold is filled.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₹38,930 in Risk-Free Dividend Income received through automatic T-2 settlement tracking.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Idle cash was never idle: accrued 5% p.a. interest in liquid overnight funds while awaiting setups.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20W DARVAS SYSTEMATIC STRATEGY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Drawdown Comparison: Sleep Peacefully at Night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Why Most Traders Blow Up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During market crashes, the Nifty 50 routinely drops 15% to 20%.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Individual stocks crash 30% to 50%.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Most retail traders get wiped out by margin calls or panic-selling at the absolute bottom.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In our strategy, max drawdown was ONLY 4.76%!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Because 40%–60% of your capital is always cushioned in liquid funds or taking quick 5% profits on the way up.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 You never get stressed during office hours or market panics.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awdown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4663440" cy="2675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20W DARVAS SYSTEMATIC STRATEGY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Your Weekly Routine: Exactly 10 Minutes Every Friday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Step 1 (Friday 3:35 PM)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</a:defRPr>
            </a:pPr>
            <a:r>
              <a:t>Open the Web Dashboard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Look at the automated weekly scanner table. See which Nifty 50 stocks triggered a box breakout.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Step 2 (Friday 3:38 PM)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</a:defRPr>
            </a:pPr>
            <a:r>
              <a:t>Filter 'Least Risen'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Pick the candidate that has risen the least above its box boundary (closest to the ceiling).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Step 3 (Friday 3:41 PM)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</a:defRPr>
            </a:pPr>
            <a:r>
              <a:t>Place Limit / GTT Order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Set a limit order with a +5% profit target order. No stop-loss needed on Nifty 50 tranches.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Step 4 (Weekend Freedom)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</a:defRPr>
            </a:pPr>
            <a:r>
              <a:t>Close Your Phone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No news watching, no Telegram tips, zero screen fatigue. Let mathematics compound your wealth.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